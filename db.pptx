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61" r:id="rId6"/>
    <p:sldMasterId id="2147483663" r:id="rId7"/>
    <p:sldMasterId id="2147483665" r:id="rId8"/>
    <p:sldMasterId id="2147483667" r:id="rId9"/>
    <p:sldMasterId id="2147483669" r:id="rId10"/>
    <p:sldMasterId id="2147483671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47D830-5130-46C6-A704-91A66046E0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9FAF60-517F-4378-BAD5-A8C335DE2F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B7CFFA2-B9E2-4CCB-A414-13A5B20AB2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90FB863-F760-45E4-920C-AFB26B9B55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50630D1-8626-43FA-A01E-F5094963F9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5EE4413-6141-4022-BDAA-E2F43A7DF6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E42AD43-DBE7-4F78-A1AB-2BC77C3ADD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D443847-0F7F-401C-A877-5C0A2BD6B4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35509AA-689B-4749-94FA-B83ED689DC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4DAE272-615F-43E9-BD15-3C737C1B71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1AD2F5D-828A-4499-B6EB-246EAFA6B6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CE40617-609D-4555-A027-FFBFE42C9B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4E77C0F-BC86-4EDB-BD16-AE53421A92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5422E45-23CA-437F-B5B8-9F674A88C7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6ECC3EA-653D-4A96-9D04-1EE8F004F4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1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2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3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4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E819DB-607D-4888-9D9C-D469B2C4E69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0CC93B-0557-4811-ADEB-8B424CCB726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3EAA95-A305-423A-BBB1-A57226D3F33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777450-242B-4920-8E9E-B00CA514084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B7F08B-A9D6-4863-B1EC-F617F9726CF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75DF56-FF8F-4E6C-8928-FB531E5C2DA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09D110-9E9F-42E9-8A5C-0C09C9AB890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EA45EA-7959-438A-AA43-61936114847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5EF27B-C72C-49A0-824B-EE3EA7098A4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A8E7C3-8F16-4F2C-9DC9-9B29595C51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371600" y="786960"/>
            <a:ext cx="9905400" cy="81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47500" lnSpcReduction="1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Corporate Analytics &amp; Legal-Reasoning Engine(CORAL)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TextBox 51"/>
          <p:cNvSpPr/>
          <p:nvPr/>
        </p:nvSpPr>
        <p:spPr>
          <a:xfrm>
            <a:off x="316440" y="2171880"/>
            <a:ext cx="571464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Project Supervisor: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Dr. M. Muthuselvi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Assistant Professor (SG)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Department of Computer Science and Engineering.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University College of Engineering Nagercoil.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52"/>
          <p:cNvSpPr/>
          <p:nvPr/>
        </p:nvSpPr>
        <p:spPr>
          <a:xfrm>
            <a:off x="7315200" y="2074680"/>
            <a:ext cx="4571640" cy="41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Team Members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K. Manikandan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9628220104034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B.E. Computer Science and Engineering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Final year.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S, Antro Vasanth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9628220104033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B.E. Computer Science and Engineering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Final year.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S. Srinivasan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9628220104026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B.E. Computer Science and Engineering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Final year.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371600" y="457200"/>
            <a:ext cx="93726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University College of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Engineering Nagercoil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Abstract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Box 68"/>
          <p:cNvSpPr/>
          <p:nvPr/>
        </p:nvSpPr>
        <p:spPr>
          <a:xfrm>
            <a:off x="228600" y="909360"/>
            <a:ext cx="11657880" cy="55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CORAL is an AI-driven legal compliance platform that translates natural-language queries into verifiable legal decisions without losing statutory precision. It combines semantic retrieval, knowledge-graph enforcement, and intent-grounded reasoning to deliver explainable, audit-ready compliance outcomes.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Preserves exact user-provided legal keywords while converting queries into structured legal intent.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Retrieves relevant statutory provisions using semantic vector search with contextual accuracy.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Enforces legal hierarchies and cross-law dependencies exclusively through a knowledge graph.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Applies intent-anchored LLM reasoning to produce deterministic, explainable compliance decisions.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Generates audit-ready, machine-readable outputs within a scalable, jurisdiction-extensible architecture.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0" y="0"/>
            <a:ext cx="12191040" cy="68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Problem Motivation/Statement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Box 70"/>
          <p:cNvSpPr/>
          <p:nvPr/>
        </p:nvSpPr>
        <p:spPr>
          <a:xfrm>
            <a:off x="228600" y="685800"/>
            <a:ext cx="11657880" cy="59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 defTabSz="914400">
              <a:lnSpc>
                <a:spcPct val="90000"/>
              </a:lnSpc>
              <a:spcBef>
                <a:spcPts val="499"/>
              </a:spcBef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1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Increasing Regulatory Complexity: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Corporate laws and regulations are continuously expanding and frequently amended.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1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Manual Legal Processes: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Current compliance and legal analysis rely heavily on time-consuming human review.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1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High Cost and Risk: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Compliance failures result in financial penalties and reputational damage.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Lack of Legal Reasoning Tools: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Existing legal platforms retrieve documents but do not provide legal reasoning or conclusions.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1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Poor Explainability: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AI-based legal tools lack transparent and auditable reasoning mechanisms.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1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Scalability Challenges: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Manual and search-based systems do not scale for fast-growing enterprises.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1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Fragmented Legal Intelligence:</a:t>
            </a:r>
            <a:r>
              <a:rPr b="0" lang="en-IN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Legal research, compliance, and advisory tools operate in isolated systems.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Need for Structured Legal Intelligence: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Organizations require an automated, accurate, and explainable legal decision-support system.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Scope of the Project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122840"/>
            <a:ext cx="11452320" cy="535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Covers corporate law compliance and governance scenarios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Handles legal areas like: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432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Company formation &amp; registration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432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Director appointments &amp; board resolutions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432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Statutory filings &amp; approvals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432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Regulatory obligations and deadlines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Supports query-based legal decision analysis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Provides compliance status, risk detection, and legal requirements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Designed for corporate teams, legal departments, and compliance officers.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96920" y="203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Project System Specification</a:t>
            </a:r>
            <a:br>
              <a:rPr sz="4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196920" y="1226880"/>
            <a:ext cx="11875320" cy="5544000"/>
          </a:xfrm>
          <a:prstGeom prst="rect">
            <a:avLst/>
          </a:prstGeom>
          <a:noFill/>
          <a:ln w="0">
            <a:noFill/>
          </a:ln>
        </p:spPr>
        <p:txBody>
          <a:bodyPr numCol="2" spcCol="0" lIns="0" rIns="0" tIns="0" bIns="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Hardware Requirements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Processor: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Intel Core i5 or higher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RAM: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Minimum 8 GB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Storage: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Minimum 256 GB available space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Network: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Stable Internet connection</a:t>
            </a:r>
            <a:br>
              <a:rPr sz="1800"/>
            </a:b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Software Requirements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Operating System: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Windows 10 / Linux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Backend Technologies: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Python, Node.js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Frontend Technology: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React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Database: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Qdrant (Vector Database), Neo4j (Graph Database)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Frameworks / APIs: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FastAPI, REST APIs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Programming Languages: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Python, JavaScript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Web Browser: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Google Chrome / Microsoft Edge / Firefox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Architecture for Proposed Solution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5" name="Content Placeholder 3" descr=""/>
          <p:cNvPicPr/>
          <p:nvPr/>
        </p:nvPicPr>
        <p:blipFill>
          <a:blip r:embed="rId1"/>
          <a:stretch/>
        </p:blipFill>
        <p:spPr>
          <a:xfrm>
            <a:off x="1854360" y="716400"/>
            <a:ext cx="8482320" cy="599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-92520" y="416520"/>
            <a:ext cx="12191400" cy="68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Tools and Techniques used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741600" y="1328040"/>
            <a:ext cx="7520400" cy="336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Tools / Technologies 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432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Large Language Model (LLM):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phi3, llama3, e5-base-v2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432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Vector Database: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Qdrant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432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Graph Database: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Neo4j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432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Backend Framework: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Python, Node.js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432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Frontend Framework: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React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432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Graph Query Language: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Cypher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432000" indent="-2160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APIs: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RESTful APIs, FAST API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44760" y="17100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Module-wise Implementation Status</a:t>
            </a:r>
            <a:br>
              <a:rPr sz="4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9" name="Content Placeholder 7"/>
          <p:cNvGraphicFramePr/>
          <p:nvPr/>
        </p:nvGraphicFramePr>
        <p:xfrm>
          <a:off x="451440" y="1134360"/>
          <a:ext cx="10901160" cy="5477040"/>
        </p:xfrm>
        <a:graphic>
          <a:graphicData uri="http://schemas.openxmlformats.org/drawingml/2006/table">
            <a:tbl>
              <a:tblPr/>
              <a:tblGrid>
                <a:gridCol w="5450760"/>
                <a:gridCol w="5450760"/>
              </a:tblGrid>
              <a:tr h="4568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MODULE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Status</a:t>
                      </a:r>
                      <a:endParaRPr b="0" lang="en-US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568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CORAL Information Website Module 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Completed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568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Signup Module 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Completed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568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Login Module 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Completed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568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Chat box &amp; Query Interface Module 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Completed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862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Intent Understanding &amp; Query Normalization Module 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Completed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134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Legal Knowledge Representation Module 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Pending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568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Semantic Retrieval &amp; Orchestration Module 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In Progress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568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Compliance Reasoning &amp; Decision Engine 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Completed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788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Explainability, Validation &amp; System Interface Module 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Completed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9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Proposed Timeline/ Work Plan(Gantt chart)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1" name="Content Placeholder 10"/>
          <p:cNvGraphicFramePr/>
          <p:nvPr/>
        </p:nvGraphicFramePr>
        <p:xfrm>
          <a:off x="54000" y="692280"/>
          <a:ext cx="12082320" cy="4282920"/>
        </p:xfrm>
        <a:graphic>
          <a:graphicData uri="http://schemas.openxmlformats.org/drawingml/2006/table">
            <a:tbl>
              <a:tblPr/>
              <a:tblGrid>
                <a:gridCol w="1062000"/>
                <a:gridCol w="885240"/>
                <a:gridCol w="885240"/>
                <a:gridCol w="885240"/>
                <a:gridCol w="885240"/>
                <a:gridCol w="885240"/>
                <a:gridCol w="885240"/>
                <a:gridCol w="885240"/>
                <a:gridCol w="885240"/>
                <a:gridCol w="885240"/>
                <a:gridCol w="973440"/>
                <a:gridCol w="973440"/>
                <a:gridCol w="1106640"/>
              </a:tblGrid>
              <a:tr h="505440">
                <a:tc rowSpan="2"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1" lang="en-US" sz="16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Month 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Month 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Month 3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64548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Week 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Week 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Week 3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Week 4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Week 5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Week 6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Week 7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Week 8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Week 9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Week 10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Week 11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Week 12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2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Module 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Module 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</a:tr>
              <a:tr h="62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Module 3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Module 4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alpha val="20000"/>
                      </a:schemeClr>
                    </a:solidFill>
                  </a:tcPr>
                </a:tc>
              </a:tr>
              <a:tr h="626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Module 5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2" name="Arrow: Chevron 11"/>
          <p:cNvSpPr/>
          <p:nvPr/>
        </p:nvSpPr>
        <p:spPr>
          <a:xfrm>
            <a:off x="1458360" y="1944720"/>
            <a:ext cx="1376280" cy="411840"/>
          </a:xfrm>
          <a:prstGeom prst="chevron">
            <a:avLst>
              <a:gd name="adj" fmla="val 50000"/>
            </a:avLst>
          </a:prstGeom>
          <a:solidFill>
            <a:srgbClr val="00b05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b050"/>
              </a:solidFill>
              <a:effectLst/>
              <a:uFillTx/>
              <a:latin typeface="Calibri"/>
            </a:endParaRPr>
          </a:p>
        </p:txBody>
      </p:sp>
      <p:sp>
        <p:nvSpPr>
          <p:cNvPr id="73" name="Arrow: Chevron 13"/>
          <p:cNvSpPr/>
          <p:nvPr/>
        </p:nvSpPr>
        <p:spPr>
          <a:xfrm>
            <a:off x="2940120" y="2569680"/>
            <a:ext cx="2626200" cy="436320"/>
          </a:xfrm>
          <a:prstGeom prst="chevron">
            <a:avLst>
              <a:gd name="adj" fmla="val 50000"/>
            </a:avLst>
          </a:prstGeom>
          <a:solidFill>
            <a:srgbClr val="00b05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Arrow: Chevron 17"/>
          <p:cNvSpPr/>
          <p:nvPr/>
        </p:nvSpPr>
        <p:spPr>
          <a:xfrm>
            <a:off x="10032480" y="4437360"/>
            <a:ext cx="2103480" cy="436320"/>
          </a:xfrm>
          <a:prstGeom prst="chevron">
            <a:avLst>
              <a:gd name="adj" fmla="val 50000"/>
            </a:avLst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Arrow: Chevron 22"/>
          <p:cNvSpPr/>
          <p:nvPr/>
        </p:nvSpPr>
        <p:spPr>
          <a:xfrm>
            <a:off x="5567040" y="3198600"/>
            <a:ext cx="1685160" cy="436320"/>
          </a:xfrm>
          <a:prstGeom prst="chevron">
            <a:avLst>
              <a:gd name="adj" fmla="val 50000"/>
            </a:avLst>
          </a:prstGeom>
          <a:solidFill>
            <a:srgbClr val="00b05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Arrow: Chevron 23"/>
          <p:cNvSpPr/>
          <p:nvPr/>
        </p:nvSpPr>
        <p:spPr>
          <a:xfrm>
            <a:off x="7368480" y="3805200"/>
            <a:ext cx="2597760" cy="436320"/>
          </a:xfrm>
          <a:prstGeom prst="chevron">
            <a:avLst>
              <a:gd name="adj" fmla="val 50000"/>
            </a:avLst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0" y="306000"/>
            <a:ext cx="12191400" cy="68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Expected Outcome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94"/>
          <p:cNvSpPr/>
          <p:nvPr/>
        </p:nvSpPr>
        <p:spPr>
          <a:xfrm>
            <a:off x="266760" y="1366920"/>
            <a:ext cx="116578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90000"/>
              </a:lnSpc>
              <a:spcBef>
                <a:spcPts val="1066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 Knowledge Graph–driven framework for auditing and ensuring transparency of AI systems.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1066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Automated extraction and structuring of legal obligations (e.g., from the EU AI Act).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1066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Improved explainability, traceability, and compliance verification of AI decisions.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1066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Effective integration of LLMs with symbolic knowledge to reduce hallucinations and legal risk.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90000"/>
              </a:lnSpc>
              <a:spcBef>
                <a:spcPts val="1066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 scalable and regulator-friendly system supporting AI governance and accountability.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0" y="124920"/>
            <a:ext cx="12191400" cy="5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References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71960" y="724320"/>
            <a:ext cx="11266920" cy="566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066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Linna, E., &amp; Linna, T. (2026). Challenges for Generative AI in Legal Reasoning. Discover Artificial Intelligence.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66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Gallia, F., Dal Ponta, T. R., Sartor, G., &amp; Contissa, G. (2025). Approaching the AI Act… with AI: LLMs and Knowledge Graphs to Extract and Analyse Obligations. Legal Informatics &amp; AI Compliance.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66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Waltersdorfer, L., &amp; Sabou, M. (2024). Leveraging Knowledge Graphs for AI System Auditing and Transparency.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66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Hannah, G., Sousa, R. T., Dasoulas, I., &amp; d’Amato, C. (2024). On the Legal Implications of Large Language Model Answers: A Prompt Engineering Approach and a View Beyond by Exploiting Knowledge Graphs. Journal of AI and Law.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66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Moreno-Schneider, J., Rehm, G., Montiel-Ponsoda, (2021). Lynx: A Knowledge-Based AI Service Platform for Content Processing, Enrichment and Analysis for the Legal Domain. Semantic Web Journal.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</TotalTime>
  <Application>LibreOffice/25.2.4.3$Linux_X86_64 LibreOffice_project/520$Build-3</Application>
  <AppVersion>15.0000</AppVersion>
  <Words>879</Words>
  <Paragraphs>133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2026-01-29T08:58:27Z</dcterms:created>
  <dc:creator>srinivasan s</dc:creator>
  <dc:description/>
  <dc:language>en-US</dc:language>
  <cp:lastModifiedBy/>
  <dcterms:modified xsi:type="dcterms:W3CDTF">2026-03-17T11:38:01Z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